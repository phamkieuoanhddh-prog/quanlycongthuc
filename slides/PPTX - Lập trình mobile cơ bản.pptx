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TT Runs Bold" charset="1" panose="02000000000000000607"/>
      <p:regular r:id="rId18"/>
    </p:embeddedFont>
    <p:embeddedFont>
      <p:font typeface="TT Runs" charset="1" panose="02000000000000000607"/>
      <p:regular r:id="rId19"/>
    </p:embeddedFont>
    <p:embeddedFont>
      <p:font typeface="Canva Sans" charset="1" panose="020B0503030501040103"/>
      <p:regular r:id="rId20"/>
    </p:embeddedFont>
    <p:embeddedFont>
      <p:font typeface="Helios Extended Bold" charset="1" panose="02000805050000020004"/>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FFAF0"/>
        </a:solidFill>
      </p:bgPr>
    </p:bg>
    <p:spTree>
      <p:nvGrpSpPr>
        <p:cNvPr id="1" name=""/>
        <p:cNvGrpSpPr/>
        <p:nvPr/>
      </p:nvGrpSpPr>
      <p:grpSpPr>
        <a:xfrm>
          <a:off x="0" y="0"/>
          <a:ext cx="0" cy="0"/>
          <a:chOff x="0" y="0"/>
          <a:chExt cx="0" cy="0"/>
        </a:xfrm>
      </p:grpSpPr>
      <p:sp>
        <p:nvSpPr>
          <p:cNvPr name="TextBox 2" id="2"/>
          <p:cNvSpPr txBox="true"/>
          <p:nvPr/>
        </p:nvSpPr>
        <p:spPr>
          <a:xfrm rot="0">
            <a:off x="1926500" y="2256585"/>
            <a:ext cx="14435000" cy="4965243"/>
          </a:xfrm>
          <a:prstGeom prst="rect">
            <a:avLst/>
          </a:prstGeom>
        </p:spPr>
        <p:txBody>
          <a:bodyPr anchor="t" rtlCol="false" tIns="0" lIns="0" bIns="0" rIns="0">
            <a:spAutoFit/>
          </a:bodyPr>
          <a:lstStyle/>
          <a:p>
            <a:pPr algn="ctr">
              <a:lnSpc>
                <a:spcPts val="12964"/>
              </a:lnSpc>
            </a:pPr>
            <a:r>
              <a:rPr lang="en-US" b="true" sz="9821">
                <a:gradFill>
                  <a:gsLst>
                    <a:gs pos="0">
                      <a:srgbClr val="FF3131">
                        <a:alpha val="100000"/>
                      </a:srgbClr>
                    </a:gs>
                    <a:gs pos="100000">
                      <a:srgbClr val="FF914D">
                        <a:alpha val="100000"/>
                      </a:srgbClr>
                    </a:gs>
                  </a:gsLst>
                  <a:lin ang="0"/>
                </a:gradFill>
                <a:latin typeface="Poppins Bold"/>
                <a:ea typeface="Poppins Bold"/>
                <a:cs typeface="Poppins Bold"/>
                <a:sym typeface="Poppins Bold"/>
              </a:rPr>
              <a:t>XÂY DỰNG ỨNG DỤNG MOBILE QUẢN LÝ CÔNG THỨC NẤU ĂN</a:t>
            </a:r>
          </a:p>
        </p:txBody>
      </p:sp>
      <p:grpSp>
        <p:nvGrpSpPr>
          <p:cNvPr name="Group 3" id="3"/>
          <p:cNvGrpSpPr/>
          <p:nvPr/>
        </p:nvGrpSpPr>
        <p:grpSpPr>
          <a:xfrm rot="0">
            <a:off x="720858" y="632880"/>
            <a:ext cx="1427910" cy="142791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5" id="5"/>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0">
            <a:off x="16382035" y="8512447"/>
            <a:ext cx="877265" cy="8772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8" id="8"/>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0">
            <a:off x="15397573" y="-1438232"/>
            <a:ext cx="4111140" cy="411114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1" id="11"/>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2" id="12"/>
          <p:cNvGrpSpPr/>
          <p:nvPr/>
        </p:nvGrpSpPr>
        <p:grpSpPr>
          <a:xfrm rot="0">
            <a:off x="893101" y="8512447"/>
            <a:ext cx="4556571" cy="45565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5" id="15"/>
          <p:cNvGrpSpPr/>
          <p:nvPr/>
        </p:nvGrpSpPr>
        <p:grpSpPr>
          <a:xfrm rot="0">
            <a:off x="3929965" y="8512447"/>
            <a:ext cx="626973" cy="62697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TextBox 18" id="18"/>
          <p:cNvSpPr txBox="true"/>
          <p:nvPr/>
        </p:nvSpPr>
        <p:spPr>
          <a:xfrm rot="0">
            <a:off x="4243451" y="7501184"/>
            <a:ext cx="10843711" cy="488716"/>
          </a:xfrm>
          <a:prstGeom prst="rect">
            <a:avLst/>
          </a:prstGeom>
        </p:spPr>
        <p:txBody>
          <a:bodyPr anchor="t" rtlCol="false" tIns="0" lIns="0" bIns="0" rIns="0">
            <a:spAutoFit/>
          </a:bodyPr>
          <a:lstStyle/>
          <a:p>
            <a:pPr algn="ctr">
              <a:lnSpc>
                <a:spcPts val="4037"/>
              </a:lnSpc>
            </a:pPr>
            <a:r>
              <a:rPr lang="en-US" b="true" sz="2884">
                <a:gradFill>
                  <a:gsLst>
                    <a:gs pos="0">
                      <a:srgbClr val="FF5757">
                        <a:alpha val="100000"/>
                      </a:srgbClr>
                    </a:gs>
                    <a:gs pos="100000">
                      <a:srgbClr val="8C52FF">
                        <a:alpha val="100000"/>
                      </a:srgbClr>
                    </a:gs>
                  </a:gsLst>
                  <a:lin ang="0"/>
                </a:gradFill>
                <a:latin typeface="TT Runs Bold"/>
                <a:ea typeface="TT Runs Bold"/>
                <a:cs typeface="TT Runs Bold"/>
                <a:sym typeface="TT Runs Bold"/>
              </a:rPr>
              <a:t>GIÁO VIÊN HƯỚNG DẪN:TH.S BÙI ĐỨC THỌ</a:t>
            </a:r>
          </a:p>
        </p:txBody>
      </p:sp>
      <p:sp>
        <p:nvSpPr>
          <p:cNvPr name="TextBox 19" id="19"/>
          <p:cNvSpPr txBox="true"/>
          <p:nvPr/>
        </p:nvSpPr>
        <p:spPr>
          <a:xfrm rot="0">
            <a:off x="5449672" y="8559798"/>
            <a:ext cx="8332912" cy="365760"/>
          </a:xfrm>
          <a:prstGeom prst="rect">
            <a:avLst/>
          </a:prstGeom>
        </p:spPr>
        <p:txBody>
          <a:bodyPr anchor="t" rtlCol="false" tIns="0" lIns="0" bIns="0" rIns="0">
            <a:spAutoFit/>
          </a:bodyPr>
          <a:lstStyle/>
          <a:p>
            <a:pPr algn="ctr">
              <a:lnSpc>
                <a:spcPts val="2939"/>
              </a:lnSpc>
            </a:pPr>
            <a:r>
              <a:rPr lang="en-US" sz="2099">
                <a:solidFill>
                  <a:srgbClr val="000000"/>
                </a:solidFill>
                <a:latin typeface="TT Runs"/>
                <a:ea typeface="TT Runs"/>
                <a:cs typeface="TT Runs"/>
                <a:sym typeface="TT Runs"/>
              </a:rPr>
              <a:t>SINH VIÊN THỰC HIỆN: 10123249 - PHẠM KIỀU OANH</a:t>
            </a:r>
          </a:p>
        </p:txBody>
      </p:sp>
      <p:sp>
        <p:nvSpPr>
          <p:cNvPr name="TextBox 20" id="20"/>
          <p:cNvSpPr txBox="true"/>
          <p:nvPr/>
        </p:nvSpPr>
        <p:spPr>
          <a:xfrm rot="0">
            <a:off x="5036993" y="981075"/>
            <a:ext cx="8214014" cy="365760"/>
          </a:xfrm>
          <a:prstGeom prst="rect">
            <a:avLst/>
          </a:prstGeom>
        </p:spPr>
        <p:txBody>
          <a:bodyPr anchor="t" rtlCol="false" tIns="0" lIns="0" bIns="0" rIns="0">
            <a:spAutoFit/>
          </a:bodyPr>
          <a:lstStyle/>
          <a:p>
            <a:pPr algn="ctr">
              <a:lnSpc>
                <a:spcPts val="2939"/>
              </a:lnSpc>
            </a:pPr>
            <a:r>
              <a:rPr lang="en-US" sz="2099">
                <a:gradFill>
                  <a:gsLst>
                    <a:gs pos="0">
                      <a:srgbClr val="FF5757">
                        <a:alpha val="100000"/>
                      </a:srgbClr>
                    </a:gs>
                    <a:gs pos="100000">
                      <a:srgbClr val="8C52FF">
                        <a:alpha val="100000"/>
                      </a:srgbClr>
                    </a:gs>
                  </a:gsLst>
                  <a:lin ang="0"/>
                </a:gradFill>
                <a:latin typeface="TT Runs"/>
                <a:ea typeface="TT Runs"/>
                <a:cs typeface="TT Runs"/>
                <a:sym typeface="TT Runs"/>
              </a:rPr>
              <a:t>Hung Yen University of Technology and Education</a:t>
            </a:r>
          </a:p>
        </p:txBody>
      </p:sp>
      <p:sp>
        <p:nvSpPr>
          <p:cNvPr name="TextBox 21" id="21"/>
          <p:cNvSpPr txBox="true"/>
          <p:nvPr/>
        </p:nvSpPr>
        <p:spPr>
          <a:xfrm rot="0">
            <a:off x="8652608" y="9100800"/>
            <a:ext cx="6434553" cy="365760"/>
          </a:xfrm>
          <a:prstGeom prst="rect">
            <a:avLst/>
          </a:prstGeom>
        </p:spPr>
        <p:txBody>
          <a:bodyPr anchor="t" rtlCol="false" tIns="0" lIns="0" bIns="0" rIns="0">
            <a:spAutoFit/>
          </a:bodyPr>
          <a:lstStyle/>
          <a:p>
            <a:pPr algn="ctr">
              <a:lnSpc>
                <a:spcPts val="2939"/>
              </a:lnSpc>
            </a:pPr>
            <a:r>
              <a:rPr lang="en-US" sz="2099">
                <a:solidFill>
                  <a:srgbClr val="000000"/>
                </a:solidFill>
                <a:latin typeface="TT Runs"/>
                <a:ea typeface="TT Runs"/>
                <a:cs typeface="TT Runs"/>
                <a:sym typeface="TT Runs"/>
              </a:rPr>
              <a:t>10123109 - HOÀNG THỊ HỒNG HẠNH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0">
            <a:off x="-1245315" y="3324393"/>
            <a:ext cx="8210353" cy="82103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573383" y="7054546"/>
            <a:ext cx="4111140" cy="411114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684671" y="1321531"/>
            <a:ext cx="758769" cy="75876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3187270">
            <a:off x="15702318" y="-232241"/>
            <a:ext cx="4556571" cy="455657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580652" y="2455322"/>
            <a:ext cx="6044802" cy="6675641"/>
            <a:chOff x="0" y="0"/>
            <a:chExt cx="812800" cy="897624"/>
          </a:xfrm>
        </p:grpSpPr>
        <p:sp>
          <p:nvSpPr>
            <p:cNvPr name="Freeform 15" id="15"/>
            <p:cNvSpPr/>
            <p:nvPr/>
          </p:nvSpPr>
          <p:spPr>
            <a:xfrm flipH="false" flipV="false" rot="0">
              <a:off x="0" y="0"/>
              <a:ext cx="812800" cy="897624"/>
            </a:xfrm>
            <a:custGeom>
              <a:avLst/>
              <a:gdLst/>
              <a:ahLst/>
              <a:cxnLst/>
              <a:rect r="r" b="b" t="t" l="l"/>
              <a:pathLst>
                <a:path h="897624" w="812800">
                  <a:moveTo>
                    <a:pt x="29457" y="0"/>
                  </a:moveTo>
                  <a:lnTo>
                    <a:pt x="783343" y="0"/>
                  </a:lnTo>
                  <a:cubicBezTo>
                    <a:pt x="791155" y="0"/>
                    <a:pt x="798648" y="3104"/>
                    <a:pt x="804172" y="8628"/>
                  </a:cubicBezTo>
                  <a:cubicBezTo>
                    <a:pt x="809696" y="14152"/>
                    <a:pt x="812800" y="21645"/>
                    <a:pt x="812800" y="29457"/>
                  </a:cubicBezTo>
                  <a:lnTo>
                    <a:pt x="812800" y="868167"/>
                  </a:lnTo>
                  <a:cubicBezTo>
                    <a:pt x="812800" y="875979"/>
                    <a:pt x="809696" y="883472"/>
                    <a:pt x="804172" y="888996"/>
                  </a:cubicBezTo>
                  <a:cubicBezTo>
                    <a:pt x="798648" y="894521"/>
                    <a:pt x="791155" y="897624"/>
                    <a:pt x="783343" y="897624"/>
                  </a:cubicBezTo>
                  <a:lnTo>
                    <a:pt x="29457" y="897624"/>
                  </a:lnTo>
                  <a:cubicBezTo>
                    <a:pt x="21645" y="897624"/>
                    <a:pt x="14152" y="894521"/>
                    <a:pt x="8628" y="888996"/>
                  </a:cubicBezTo>
                  <a:cubicBezTo>
                    <a:pt x="3104" y="883472"/>
                    <a:pt x="0" y="875979"/>
                    <a:pt x="0" y="868167"/>
                  </a:cubicBezTo>
                  <a:lnTo>
                    <a:pt x="0" y="29457"/>
                  </a:lnTo>
                  <a:cubicBezTo>
                    <a:pt x="0" y="21645"/>
                    <a:pt x="3104" y="14152"/>
                    <a:pt x="8628" y="8628"/>
                  </a:cubicBezTo>
                  <a:cubicBezTo>
                    <a:pt x="14152" y="3104"/>
                    <a:pt x="21645" y="0"/>
                    <a:pt x="29457" y="0"/>
                  </a:cubicBezTo>
                  <a:close/>
                </a:path>
              </a:pathLst>
            </a:custGeom>
            <a:blipFill>
              <a:blip r:embed="rId2"/>
              <a:stretch>
                <a:fillRect l="-32956" t="0" r="-32956" b="0"/>
              </a:stretch>
            </a:blipFill>
          </p:spPr>
        </p:sp>
      </p:grpSp>
      <p:sp>
        <p:nvSpPr>
          <p:cNvPr name="TextBox 16" id="16"/>
          <p:cNvSpPr txBox="true"/>
          <p:nvPr/>
        </p:nvSpPr>
        <p:spPr>
          <a:xfrm rot="0">
            <a:off x="7922986" y="2197769"/>
            <a:ext cx="9113989" cy="3340490"/>
          </a:xfrm>
          <a:prstGeom prst="rect">
            <a:avLst/>
          </a:prstGeom>
        </p:spPr>
        <p:txBody>
          <a:bodyPr anchor="t" rtlCol="false" tIns="0" lIns="0" bIns="0" rIns="0">
            <a:spAutoFit/>
          </a:bodyPr>
          <a:lstStyle/>
          <a:p>
            <a:pPr algn="just">
              <a:lnSpc>
                <a:spcPts val="3752"/>
              </a:lnSpc>
            </a:pPr>
          </a:p>
          <a:p>
            <a:pPr algn="just">
              <a:lnSpc>
                <a:spcPts val="3752"/>
              </a:lnSpc>
            </a:pPr>
            <a:r>
              <a:rPr lang="en-US" sz="2680">
                <a:solidFill>
                  <a:srgbClr val="000000"/>
                </a:solidFill>
                <a:latin typeface="Canva Sans"/>
                <a:ea typeface="Canva Sans"/>
                <a:cs typeface="Canva Sans"/>
                <a:sym typeface="Canva Sans"/>
              </a:rPr>
              <a:t>Hiện nay nhiều người thường:</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Lưu công thức trên giấy.</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Lưu trong ghi chú điện thoại.</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Khó tìm lại công thức đã lưu.</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Không quản lý được các món ăn yêu thích.</a:t>
            </a:r>
          </a:p>
          <a:p>
            <a:pPr algn="just">
              <a:lnSpc>
                <a:spcPts val="3903"/>
              </a:lnSpc>
            </a:pPr>
          </a:p>
        </p:txBody>
      </p:sp>
      <p:sp>
        <p:nvSpPr>
          <p:cNvPr name="TextBox 17" id="17"/>
          <p:cNvSpPr txBox="true"/>
          <p:nvPr/>
        </p:nvSpPr>
        <p:spPr>
          <a:xfrm rot="0">
            <a:off x="7675007" y="764580"/>
            <a:ext cx="8968609" cy="8489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Đặt vấn đề &amp; Mục tiêu</a:t>
            </a:r>
          </a:p>
        </p:txBody>
      </p:sp>
      <p:sp>
        <p:nvSpPr>
          <p:cNvPr name="TextBox 18" id="18"/>
          <p:cNvSpPr txBox="true"/>
          <p:nvPr/>
        </p:nvSpPr>
        <p:spPr>
          <a:xfrm rot="0">
            <a:off x="7922986" y="2023150"/>
            <a:ext cx="3529069" cy="465193"/>
          </a:xfrm>
          <a:prstGeom prst="rect">
            <a:avLst/>
          </a:prstGeom>
        </p:spPr>
        <p:txBody>
          <a:bodyPr anchor="t" rtlCol="false" tIns="0" lIns="0" bIns="0" rIns="0">
            <a:spAutoFit/>
          </a:bodyPr>
          <a:lstStyle/>
          <a:p>
            <a:pPr algn="just">
              <a:lnSpc>
                <a:spcPts val="3759"/>
              </a:lnSpc>
            </a:pPr>
            <a:r>
              <a:rPr lang="en-US" sz="2685" b="true">
                <a:solidFill>
                  <a:srgbClr val="000000"/>
                </a:solidFill>
                <a:latin typeface="Canva Sans Bold"/>
                <a:ea typeface="Canva Sans Bold"/>
                <a:cs typeface="Canva Sans Bold"/>
                <a:sym typeface="Canva Sans Bold"/>
              </a:rPr>
              <a:t>THỰC TRẠNG</a:t>
            </a:r>
          </a:p>
        </p:txBody>
      </p:sp>
      <p:sp>
        <p:nvSpPr>
          <p:cNvPr name="TextBox 19" id="19"/>
          <p:cNvSpPr txBox="true"/>
          <p:nvPr/>
        </p:nvSpPr>
        <p:spPr>
          <a:xfrm rot="0">
            <a:off x="7922986" y="7667694"/>
            <a:ext cx="6688372" cy="2387990"/>
          </a:xfrm>
          <a:prstGeom prst="rect">
            <a:avLst/>
          </a:prstGeom>
        </p:spPr>
        <p:txBody>
          <a:bodyPr anchor="t" rtlCol="false" tIns="0" lIns="0" bIns="0" rIns="0">
            <a:spAutoFit/>
          </a:bodyPr>
          <a:lstStyle/>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Lư</a:t>
            </a:r>
            <a:r>
              <a:rPr lang="en-US" sz="2680">
                <a:solidFill>
                  <a:srgbClr val="000000"/>
                </a:solidFill>
                <a:latin typeface="Canva Sans"/>
                <a:ea typeface="Canva Sans"/>
                <a:cs typeface="Canva Sans"/>
                <a:sym typeface="Canva Sans"/>
              </a:rPr>
              <a:t>u trữ công thức.</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Tìm</a:t>
            </a:r>
            <a:r>
              <a:rPr lang="en-US" sz="2680">
                <a:solidFill>
                  <a:srgbClr val="000000"/>
                </a:solidFill>
                <a:latin typeface="Canva Sans"/>
                <a:ea typeface="Canva Sans"/>
                <a:cs typeface="Canva Sans"/>
                <a:sym typeface="Canva Sans"/>
              </a:rPr>
              <a:t> kiếm nhanh công thức.</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Đá</a:t>
            </a:r>
            <a:r>
              <a:rPr lang="en-US" sz="2680">
                <a:solidFill>
                  <a:srgbClr val="000000"/>
                </a:solidFill>
                <a:latin typeface="Canva Sans"/>
                <a:ea typeface="Canva Sans"/>
                <a:cs typeface="Canva Sans"/>
                <a:sym typeface="Canva Sans"/>
              </a:rPr>
              <a:t>nh dấu món ăn yêu thích.</a:t>
            </a:r>
          </a:p>
          <a:p>
            <a:pPr algn="just" marL="578765" indent="-289383" lvl="1">
              <a:lnSpc>
                <a:spcPts val="3752"/>
              </a:lnSpc>
              <a:buFont typeface="Arial"/>
              <a:buChar char="•"/>
            </a:pPr>
            <a:r>
              <a:rPr lang="en-US" sz="2680">
                <a:solidFill>
                  <a:srgbClr val="000000"/>
                </a:solidFill>
                <a:latin typeface="Canva Sans"/>
                <a:ea typeface="Canva Sans"/>
                <a:cs typeface="Canva Sans"/>
                <a:sym typeface="Canva Sans"/>
              </a:rPr>
              <a:t>Quản lý công thức mọi lúc mọi nơi.</a:t>
            </a:r>
          </a:p>
          <a:p>
            <a:pPr algn="just">
              <a:lnSpc>
                <a:spcPts val="3903"/>
              </a:lnSpc>
            </a:pPr>
          </a:p>
        </p:txBody>
      </p:sp>
      <p:sp>
        <p:nvSpPr>
          <p:cNvPr name="TextBox 20" id="20"/>
          <p:cNvSpPr txBox="true"/>
          <p:nvPr/>
        </p:nvSpPr>
        <p:spPr>
          <a:xfrm rot="0">
            <a:off x="7922986" y="6997396"/>
            <a:ext cx="3043932" cy="465193"/>
          </a:xfrm>
          <a:prstGeom prst="rect">
            <a:avLst/>
          </a:prstGeom>
        </p:spPr>
        <p:txBody>
          <a:bodyPr anchor="t" rtlCol="false" tIns="0" lIns="0" bIns="0" rIns="0">
            <a:spAutoFit/>
          </a:bodyPr>
          <a:lstStyle/>
          <a:p>
            <a:pPr algn="just">
              <a:lnSpc>
                <a:spcPts val="3759"/>
              </a:lnSpc>
            </a:pPr>
            <a:r>
              <a:rPr lang="en-US" sz="2685" b="true">
                <a:solidFill>
                  <a:srgbClr val="000000"/>
                </a:solidFill>
                <a:latin typeface="Canva Sans Bold"/>
                <a:ea typeface="Canva Sans Bold"/>
                <a:cs typeface="Canva Sans Bold"/>
                <a:sym typeface="Canva Sans Bold"/>
              </a:rPr>
              <a:t>MỤC TIÊU</a:t>
            </a:r>
          </a:p>
        </p:txBody>
      </p:sp>
      <p:sp>
        <p:nvSpPr>
          <p:cNvPr name="TextBox 21" id="21"/>
          <p:cNvSpPr txBox="true"/>
          <p:nvPr/>
        </p:nvSpPr>
        <p:spPr>
          <a:xfrm rot="0">
            <a:off x="7922986" y="5847605"/>
            <a:ext cx="6688372" cy="1407100"/>
          </a:xfrm>
          <a:prstGeom prst="rect">
            <a:avLst/>
          </a:prstGeom>
        </p:spPr>
        <p:txBody>
          <a:bodyPr anchor="t" rtlCol="false" tIns="0" lIns="0" bIns="0" rIns="0">
            <a:spAutoFit/>
          </a:bodyPr>
          <a:lstStyle/>
          <a:p>
            <a:pPr algn="l">
              <a:lnSpc>
                <a:spcPts val="3742"/>
              </a:lnSpc>
            </a:pPr>
            <a:r>
              <a:rPr lang="en-US" sz="2673">
                <a:solidFill>
                  <a:srgbClr val="000000"/>
                </a:solidFill>
                <a:latin typeface="Canva Sans"/>
                <a:ea typeface="Canva Sans"/>
                <a:cs typeface="Canva Sans"/>
                <a:sym typeface="Canva Sans"/>
              </a:rPr>
              <a:t>Xây</a:t>
            </a:r>
            <a:r>
              <a:rPr lang="en-US" sz="2673">
                <a:solidFill>
                  <a:srgbClr val="000000"/>
                </a:solidFill>
                <a:latin typeface="Canva Sans"/>
                <a:ea typeface="Canva Sans"/>
                <a:cs typeface="Canva Sans"/>
                <a:sym typeface="Canva Sans"/>
              </a:rPr>
              <a:t> dựng ứng dụng Mobile:</a:t>
            </a:r>
          </a:p>
          <a:p>
            <a:pPr algn="just" marL="577191" indent="-288596" lvl="1">
              <a:lnSpc>
                <a:spcPts val="3742"/>
              </a:lnSpc>
              <a:buFont typeface="Arial"/>
              <a:buChar char="•"/>
            </a:pPr>
            <a:r>
              <a:rPr lang="en-US" sz="2673">
                <a:solidFill>
                  <a:srgbClr val="000000"/>
                </a:solidFill>
                <a:latin typeface="Canva Sans"/>
                <a:ea typeface="Canva Sans"/>
                <a:cs typeface="Canva Sans"/>
                <a:sym typeface="Canva Sans"/>
              </a:rPr>
              <a:t>Quản lý công thức nấu ăn cá nhân.</a:t>
            </a:r>
          </a:p>
          <a:p>
            <a:pPr algn="just">
              <a:lnSpc>
                <a:spcPts val="3893"/>
              </a:lnSpc>
            </a:pPr>
          </a:p>
        </p:txBody>
      </p:sp>
      <p:sp>
        <p:nvSpPr>
          <p:cNvPr name="TextBox 22" id="22"/>
          <p:cNvSpPr txBox="true"/>
          <p:nvPr/>
        </p:nvSpPr>
        <p:spPr>
          <a:xfrm rot="0">
            <a:off x="7922986" y="5178565"/>
            <a:ext cx="3043932" cy="465193"/>
          </a:xfrm>
          <a:prstGeom prst="rect">
            <a:avLst/>
          </a:prstGeom>
        </p:spPr>
        <p:txBody>
          <a:bodyPr anchor="t" rtlCol="false" tIns="0" lIns="0" bIns="0" rIns="0">
            <a:spAutoFit/>
          </a:bodyPr>
          <a:lstStyle/>
          <a:p>
            <a:pPr algn="just">
              <a:lnSpc>
                <a:spcPts val="3759"/>
              </a:lnSpc>
            </a:pPr>
            <a:r>
              <a:rPr lang="en-US" sz="2685" b="true">
                <a:solidFill>
                  <a:srgbClr val="000000"/>
                </a:solidFill>
                <a:latin typeface="Canva Sans Bold"/>
                <a:ea typeface="Canva Sans Bold"/>
                <a:cs typeface="Canva Sans Bold"/>
                <a:sym typeface="Canva Sans Bold"/>
              </a:rPr>
              <a:t>GIẢI PHÁP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0">
            <a:off x="-6410539" y="2759884"/>
            <a:ext cx="8640962" cy="86409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0610404" y="7393836"/>
            <a:ext cx="2080949" cy="208094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2090058" y="8582229"/>
            <a:ext cx="4556571" cy="455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0">
            <a:off x="1251473" y="8778707"/>
            <a:ext cx="563753" cy="56375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4" id="14"/>
          <p:cNvGrpSpPr/>
          <p:nvPr/>
        </p:nvGrpSpPr>
        <p:grpSpPr>
          <a:xfrm rot="0">
            <a:off x="10610404" y="1349549"/>
            <a:ext cx="2710255" cy="271025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6" id="16"/>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7" id="17"/>
          <p:cNvGrpSpPr/>
          <p:nvPr/>
        </p:nvGrpSpPr>
        <p:grpSpPr>
          <a:xfrm rot="0">
            <a:off x="11571136" y="2327914"/>
            <a:ext cx="6186139" cy="618613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28784" y="0"/>
                  </a:moveTo>
                  <a:lnTo>
                    <a:pt x="784016" y="0"/>
                  </a:lnTo>
                  <a:cubicBezTo>
                    <a:pt x="791650" y="0"/>
                    <a:pt x="798971" y="3033"/>
                    <a:pt x="804369" y="8431"/>
                  </a:cubicBezTo>
                  <a:cubicBezTo>
                    <a:pt x="809767" y="13829"/>
                    <a:pt x="812800" y="21150"/>
                    <a:pt x="812800" y="28784"/>
                  </a:cubicBezTo>
                  <a:lnTo>
                    <a:pt x="812800" y="784016"/>
                  </a:lnTo>
                  <a:cubicBezTo>
                    <a:pt x="812800" y="791650"/>
                    <a:pt x="809767" y="798971"/>
                    <a:pt x="804369" y="804369"/>
                  </a:cubicBezTo>
                  <a:cubicBezTo>
                    <a:pt x="798971" y="809767"/>
                    <a:pt x="791650" y="812800"/>
                    <a:pt x="784016" y="812800"/>
                  </a:cubicBezTo>
                  <a:lnTo>
                    <a:pt x="28784" y="812800"/>
                  </a:lnTo>
                  <a:cubicBezTo>
                    <a:pt x="21150" y="812800"/>
                    <a:pt x="13829" y="809767"/>
                    <a:pt x="8431" y="804369"/>
                  </a:cubicBezTo>
                  <a:cubicBezTo>
                    <a:pt x="3033" y="798971"/>
                    <a:pt x="0" y="791650"/>
                    <a:pt x="0" y="784016"/>
                  </a:cubicBezTo>
                  <a:lnTo>
                    <a:pt x="0" y="28784"/>
                  </a:lnTo>
                  <a:cubicBezTo>
                    <a:pt x="0" y="21150"/>
                    <a:pt x="3033" y="13829"/>
                    <a:pt x="8431" y="8431"/>
                  </a:cubicBezTo>
                  <a:cubicBezTo>
                    <a:pt x="13829" y="3033"/>
                    <a:pt x="21150" y="0"/>
                    <a:pt x="28784" y="0"/>
                  </a:cubicBezTo>
                  <a:close/>
                </a:path>
              </a:pathLst>
            </a:custGeom>
            <a:blipFill>
              <a:blip r:embed="rId2"/>
              <a:stretch>
                <a:fillRect l="-25046" t="0" r="-25046" b="0"/>
              </a:stretch>
            </a:blipFill>
          </p:spPr>
        </p:sp>
      </p:grpSp>
      <p:sp>
        <p:nvSpPr>
          <p:cNvPr name="TextBox 19" id="19"/>
          <p:cNvSpPr txBox="true"/>
          <p:nvPr/>
        </p:nvSpPr>
        <p:spPr>
          <a:xfrm rot="0">
            <a:off x="469631" y="1038225"/>
            <a:ext cx="9053285" cy="8489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Chức năng hệ thống</a:t>
            </a:r>
          </a:p>
        </p:txBody>
      </p:sp>
      <p:sp>
        <p:nvSpPr>
          <p:cNvPr name="TextBox 20" id="20"/>
          <p:cNvSpPr txBox="true"/>
          <p:nvPr/>
        </p:nvSpPr>
        <p:spPr>
          <a:xfrm rot="0">
            <a:off x="751820" y="3680431"/>
            <a:ext cx="3111072" cy="1452000"/>
          </a:xfrm>
          <a:prstGeom prst="rect">
            <a:avLst/>
          </a:prstGeom>
        </p:spPr>
        <p:txBody>
          <a:bodyPr anchor="t" rtlCol="false" tIns="0" lIns="0" bIns="0" rIns="0">
            <a:spAutoFit/>
          </a:bodyPr>
          <a:lstStyle/>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Đă</a:t>
            </a:r>
            <a:r>
              <a:rPr lang="en-US" sz="2780">
                <a:solidFill>
                  <a:srgbClr val="000000"/>
                </a:solidFill>
                <a:latin typeface="Canva Sans"/>
                <a:ea typeface="Canva Sans"/>
                <a:cs typeface="Canva Sans"/>
                <a:sym typeface="Canva Sans"/>
              </a:rPr>
              <a:t>ng ký</a:t>
            </a:r>
          </a:p>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Đă</a:t>
            </a:r>
            <a:r>
              <a:rPr lang="en-US" sz="2780">
                <a:solidFill>
                  <a:srgbClr val="000000"/>
                </a:solidFill>
                <a:latin typeface="Canva Sans"/>
                <a:ea typeface="Canva Sans"/>
                <a:cs typeface="Canva Sans"/>
                <a:sym typeface="Canva Sans"/>
              </a:rPr>
              <a:t>ng nhập</a:t>
            </a:r>
          </a:p>
          <a:p>
            <a:pPr algn="just">
              <a:lnSpc>
                <a:spcPts val="4043"/>
              </a:lnSpc>
            </a:pPr>
          </a:p>
        </p:txBody>
      </p:sp>
      <p:sp>
        <p:nvSpPr>
          <p:cNvPr name="TextBox 21" id="21"/>
          <p:cNvSpPr txBox="true"/>
          <p:nvPr/>
        </p:nvSpPr>
        <p:spPr>
          <a:xfrm rot="0">
            <a:off x="751820" y="3013276"/>
            <a:ext cx="3759950" cy="462653"/>
          </a:xfrm>
          <a:prstGeom prst="rect">
            <a:avLst/>
          </a:prstGeom>
        </p:spPr>
        <p:txBody>
          <a:bodyPr anchor="t" rtlCol="false" tIns="0" lIns="0" bIns="0" rIns="0">
            <a:spAutoFit/>
          </a:bodyPr>
          <a:lstStyle/>
          <a:p>
            <a:pPr algn="just">
              <a:lnSpc>
                <a:spcPts val="3899"/>
              </a:lnSpc>
            </a:pPr>
            <a:r>
              <a:rPr lang="en-US" sz="2785" b="true">
                <a:solidFill>
                  <a:srgbClr val="000000"/>
                </a:solidFill>
                <a:latin typeface="Canva Sans Bold"/>
                <a:ea typeface="Canva Sans Bold"/>
                <a:cs typeface="Canva Sans Bold"/>
                <a:sym typeface="Canva Sans Bold"/>
              </a:rPr>
              <a:t>QUẢN LÝ TÀI KHOẢN</a:t>
            </a:r>
          </a:p>
        </p:txBody>
      </p:sp>
      <p:sp>
        <p:nvSpPr>
          <p:cNvPr name="TextBox 22" id="22"/>
          <p:cNvSpPr txBox="true"/>
          <p:nvPr/>
        </p:nvSpPr>
        <p:spPr>
          <a:xfrm rot="0">
            <a:off x="751820" y="6062110"/>
            <a:ext cx="4526642" cy="1434505"/>
          </a:xfrm>
          <a:prstGeom prst="rect">
            <a:avLst/>
          </a:prstGeom>
        </p:spPr>
        <p:txBody>
          <a:bodyPr anchor="t" rtlCol="false" tIns="0" lIns="0" bIns="0" rIns="0">
            <a:spAutoFit/>
          </a:bodyPr>
          <a:lstStyle/>
          <a:p>
            <a:pPr algn="l" marL="598781" indent="-299390" lvl="1">
              <a:lnSpc>
                <a:spcPts val="3882"/>
              </a:lnSpc>
              <a:buFont typeface="Arial"/>
              <a:buChar char="•"/>
            </a:pPr>
            <a:r>
              <a:rPr lang="en-US" sz="2773">
                <a:solidFill>
                  <a:srgbClr val="000000"/>
                </a:solidFill>
                <a:latin typeface="Canva Sans"/>
                <a:ea typeface="Canva Sans"/>
                <a:cs typeface="Canva Sans"/>
                <a:sym typeface="Canva Sans"/>
              </a:rPr>
              <a:t>Thêm mới công thức</a:t>
            </a:r>
          </a:p>
          <a:p>
            <a:pPr algn="l" marL="598781" indent="-299390" lvl="1">
              <a:lnSpc>
                <a:spcPts val="3882"/>
              </a:lnSpc>
              <a:buFont typeface="Arial"/>
              <a:buChar char="•"/>
            </a:pPr>
            <a:r>
              <a:rPr lang="en-US" sz="2773">
                <a:solidFill>
                  <a:srgbClr val="000000"/>
                </a:solidFill>
                <a:latin typeface="Canva Sans"/>
                <a:ea typeface="Canva Sans"/>
                <a:cs typeface="Canva Sans"/>
                <a:sym typeface="Canva Sans"/>
              </a:rPr>
              <a:t>Sửa công thức</a:t>
            </a:r>
          </a:p>
          <a:p>
            <a:pPr algn="l" marL="598781" indent="-299390" lvl="1">
              <a:lnSpc>
                <a:spcPts val="3882"/>
              </a:lnSpc>
              <a:buFont typeface="Arial"/>
              <a:buChar char="•"/>
            </a:pPr>
            <a:r>
              <a:rPr lang="en-US" sz="2773">
                <a:solidFill>
                  <a:srgbClr val="000000"/>
                </a:solidFill>
                <a:latin typeface="Canva Sans"/>
                <a:ea typeface="Canva Sans"/>
                <a:cs typeface="Canva Sans"/>
                <a:sym typeface="Canva Sans"/>
              </a:rPr>
              <a:t>Xóa công thức</a:t>
            </a:r>
          </a:p>
        </p:txBody>
      </p:sp>
      <p:sp>
        <p:nvSpPr>
          <p:cNvPr name="TextBox 23" id="23"/>
          <p:cNvSpPr txBox="true"/>
          <p:nvPr/>
        </p:nvSpPr>
        <p:spPr>
          <a:xfrm rot="0">
            <a:off x="751820" y="5396892"/>
            <a:ext cx="3990832" cy="462653"/>
          </a:xfrm>
          <a:prstGeom prst="rect">
            <a:avLst/>
          </a:prstGeom>
        </p:spPr>
        <p:txBody>
          <a:bodyPr anchor="t" rtlCol="false" tIns="0" lIns="0" bIns="0" rIns="0">
            <a:spAutoFit/>
          </a:bodyPr>
          <a:lstStyle/>
          <a:p>
            <a:pPr algn="just">
              <a:lnSpc>
                <a:spcPts val="3899"/>
              </a:lnSpc>
            </a:pPr>
            <a:r>
              <a:rPr lang="en-US" sz="2785" b="true">
                <a:solidFill>
                  <a:srgbClr val="000000"/>
                </a:solidFill>
                <a:latin typeface="Canva Sans Bold"/>
                <a:ea typeface="Canva Sans Bold"/>
                <a:cs typeface="Canva Sans Bold"/>
                <a:sym typeface="Canva Sans Bold"/>
              </a:rPr>
              <a:t>QUẢN LÝ CÔNG THỨC</a:t>
            </a:r>
          </a:p>
        </p:txBody>
      </p:sp>
      <p:sp>
        <p:nvSpPr>
          <p:cNvPr name="TextBox 24" id="24"/>
          <p:cNvSpPr txBox="true"/>
          <p:nvPr/>
        </p:nvSpPr>
        <p:spPr>
          <a:xfrm rot="0">
            <a:off x="5278462" y="3678494"/>
            <a:ext cx="5472124" cy="462770"/>
          </a:xfrm>
          <a:prstGeom prst="rect">
            <a:avLst/>
          </a:prstGeom>
        </p:spPr>
        <p:txBody>
          <a:bodyPr anchor="t" rtlCol="false" tIns="0" lIns="0" bIns="0" rIns="0">
            <a:spAutoFit/>
          </a:bodyPr>
          <a:lstStyle/>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Tìm kiếm theo tên công thức</a:t>
            </a:r>
          </a:p>
        </p:txBody>
      </p:sp>
      <p:sp>
        <p:nvSpPr>
          <p:cNvPr name="TextBox 25" id="25"/>
          <p:cNvSpPr txBox="true"/>
          <p:nvPr/>
        </p:nvSpPr>
        <p:spPr>
          <a:xfrm rot="0">
            <a:off x="5278462" y="3013276"/>
            <a:ext cx="4064879" cy="462653"/>
          </a:xfrm>
          <a:prstGeom prst="rect">
            <a:avLst/>
          </a:prstGeom>
        </p:spPr>
        <p:txBody>
          <a:bodyPr anchor="t" rtlCol="false" tIns="0" lIns="0" bIns="0" rIns="0">
            <a:spAutoFit/>
          </a:bodyPr>
          <a:lstStyle/>
          <a:p>
            <a:pPr algn="just">
              <a:lnSpc>
                <a:spcPts val="3899"/>
              </a:lnSpc>
            </a:pPr>
            <a:r>
              <a:rPr lang="en-US" sz="2785" b="true">
                <a:solidFill>
                  <a:srgbClr val="000000"/>
                </a:solidFill>
                <a:latin typeface="Canva Sans Bold"/>
                <a:ea typeface="Canva Sans Bold"/>
                <a:cs typeface="Canva Sans Bold"/>
                <a:sym typeface="Canva Sans Bold"/>
              </a:rPr>
              <a:t>TÌM KIẾM CÔNG THỨC</a:t>
            </a:r>
          </a:p>
        </p:txBody>
      </p:sp>
      <p:sp>
        <p:nvSpPr>
          <p:cNvPr name="TextBox 26" id="26"/>
          <p:cNvSpPr txBox="true"/>
          <p:nvPr/>
        </p:nvSpPr>
        <p:spPr>
          <a:xfrm rot="0">
            <a:off x="5278462" y="6062295"/>
            <a:ext cx="5287241" cy="1434320"/>
          </a:xfrm>
          <a:prstGeom prst="rect">
            <a:avLst/>
          </a:prstGeom>
        </p:spPr>
        <p:txBody>
          <a:bodyPr anchor="t" rtlCol="false" tIns="0" lIns="0" bIns="0" rIns="0">
            <a:spAutoFit/>
          </a:bodyPr>
          <a:lstStyle/>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Đánh dấu yêu thích</a:t>
            </a:r>
          </a:p>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Xem danh sách yêu thích</a:t>
            </a:r>
          </a:p>
          <a:p>
            <a:pPr algn="just" marL="600355" indent="-300177" lvl="1">
              <a:lnSpc>
                <a:spcPts val="3892"/>
              </a:lnSpc>
              <a:buFont typeface="Arial"/>
              <a:buChar char="•"/>
            </a:pPr>
            <a:r>
              <a:rPr lang="en-US" sz="2780">
                <a:solidFill>
                  <a:srgbClr val="000000"/>
                </a:solidFill>
                <a:latin typeface="Canva Sans"/>
                <a:ea typeface="Canva Sans"/>
                <a:cs typeface="Canva Sans"/>
                <a:sym typeface="Canva Sans"/>
              </a:rPr>
              <a:t>Bỏ yêu thích</a:t>
            </a:r>
          </a:p>
        </p:txBody>
      </p:sp>
      <p:sp>
        <p:nvSpPr>
          <p:cNvPr name="TextBox 27" id="27"/>
          <p:cNvSpPr txBox="true"/>
          <p:nvPr/>
        </p:nvSpPr>
        <p:spPr>
          <a:xfrm rot="0">
            <a:off x="5278462" y="5396892"/>
            <a:ext cx="4064879" cy="462653"/>
          </a:xfrm>
          <a:prstGeom prst="rect">
            <a:avLst/>
          </a:prstGeom>
        </p:spPr>
        <p:txBody>
          <a:bodyPr anchor="t" rtlCol="false" tIns="0" lIns="0" bIns="0" rIns="0">
            <a:spAutoFit/>
          </a:bodyPr>
          <a:lstStyle/>
          <a:p>
            <a:pPr algn="just">
              <a:lnSpc>
                <a:spcPts val="3899"/>
              </a:lnSpc>
            </a:pPr>
            <a:r>
              <a:rPr lang="en-US" sz="2785" b="true">
                <a:solidFill>
                  <a:srgbClr val="000000"/>
                </a:solidFill>
                <a:latin typeface="Canva Sans Bold"/>
                <a:ea typeface="Canva Sans Bold"/>
                <a:cs typeface="Canva Sans Bold"/>
                <a:sym typeface="Canva Sans Bold"/>
              </a:rPr>
              <a:t>QUẢN LÝ YÊU THÍCH</a:t>
            </a:r>
          </a:p>
        </p:txBody>
      </p:sp>
      <p:grpSp>
        <p:nvGrpSpPr>
          <p:cNvPr name="Group 28" id="28"/>
          <p:cNvGrpSpPr/>
          <p:nvPr/>
        </p:nvGrpSpPr>
        <p:grpSpPr>
          <a:xfrm rot="0">
            <a:off x="17072537" y="1280970"/>
            <a:ext cx="1779931" cy="177993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30" id="3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2636532" y="-1952323"/>
            <a:ext cx="8640962" cy="86409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5620056">
            <a:off x="15943365" y="8355288"/>
            <a:ext cx="4109097" cy="41090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5908196" y="-2240741"/>
            <a:ext cx="4556571" cy="455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77505">
            <a:off x="16225582" y="1113796"/>
            <a:ext cx="1002675" cy="10026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14" id="14"/>
          <p:cNvSpPr/>
          <p:nvPr/>
        </p:nvSpPr>
        <p:spPr>
          <a:xfrm flipH="false" flipV="false" rot="0">
            <a:off x="9360816" y="6983770"/>
            <a:ext cx="694234" cy="595306"/>
          </a:xfrm>
          <a:custGeom>
            <a:avLst/>
            <a:gdLst/>
            <a:ahLst/>
            <a:cxnLst/>
            <a:rect r="r" b="b" t="t" l="l"/>
            <a:pathLst>
              <a:path h="595306" w="694234">
                <a:moveTo>
                  <a:pt x="0" y="0"/>
                </a:moveTo>
                <a:lnTo>
                  <a:pt x="694234" y="0"/>
                </a:lnTo>
                <a:lnTo>
                  <a:pt x="694234" y="595306"/>
                </a:lnTo>
                <a:lnTo>
                  <a:pt x="0" y="595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140556" y="6956163"/>
            <a:ext cx="566073" cy="622913"/>
          </a:xfrm>
          <a:custGeom>
            <a:avLst/>
            <a:gdLst/>
            <a:ahLst/>
            <a:cxnLst/>
            <a:rect r="r" b="b" t="t" l="l"/>
            <a:pathLst>
              <a:path h="622913" w="566073">
                <a:moveTo>
                  <a:pt x="0" y="0"/>
                </a:moveTo>
                <a:lnTo>
                  <a:pt x="566073" y="0"/>
                </a:lnTo>
                <a:lnTo>
                  <a:pt x="566073" y="622913"/>
                </a:lnTo>
                <a:lnTo>
                  <a:pt x="0" y="622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894260" y="6956163"/>
            <a:ext cx="551344" cy="654414"/>
          </a:xfrm>
          <a:custGeom>
            <a:avLst/>
            <a:gdLst/>
            <a:ahLst/>
            <a:cxnLst/>
            <a:rect r="r" b="b" t="t" l="l"/>
            <a:pathLst>
              <a:path h="654414" w="551344">
                <a:moveTo>
                  <a:pt x="0" y="0"/>
                </a:moveTo>
                <a:lnTo>
                  <a:pt x="551344" y="0"/>
                </a:lnTo>
                <a:lnTo>
                  <a:pt x="551344" y="654414"/>
                </a:lnTo>
                <a:lnTo>
                  <a:pt x="0" y="6544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2436600" y="1867668"/>
            <a:ext cx="14290320" cy="7935956"/>
          </a:xfrm>
          <a:custGeom>
            <a:avLst/>
            <a:gdLst/>
            <a:ahLst/>
            <a:cxnLst/>
            <a:rect r="r" b="b" t="t" l="l"/>
            <a:pathLst>
              <a:path h="7935956" w="14290320">
                <a:moveTo>
                  <a:pt x="0" y="0"/>
                </a:moveTo>
                <a:lnTo>
                  <a:pt x="14290319" y="0"/>
                </a:lnTo>
                <a:lnTo>
                  <a:pt x="14290319" y="7935956"/>
                </a:lnTo>
                <a:lnTo>
                  <a:pt x="0" y="7935956"/>
                </a:lnTo>
                <a:lnTo>
                  <a:pt x="0" y="0"/>
                </a:lnTo>
                <a:close/>
              </a:path>
            </a:pathLst>
          </a:custGeom>
          <a:blipFill>
            <a:blip r:embed="rId8"/>
            <a:stretch>
              <a:fillRect l="0" t="0" r="0" b="0"/>
            </a:stretch>
          </a:blipFill>
        </p:spPr>
      </p:sp>
      <p:sp>
        <p:nvSpPr>
          <p:cNvPr name="TextBox 18" id="18"/>
          <p:cNvSpPr txBox="true"/>
          <p:nvPr/>
        </p:nvSpPr>
        <p:spPr>
          <a:xfrm rot="0">
            <a:off x="1028700" y="682886"/>
            <a:ext cx="15840935" cy="8489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User Case tổng quát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2636532" y="-1952323"/>
            <a:ext cx="8640962" cy="86409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5620056">
            <a:off x="15943365" y="8355288"/>
            <a:ext cx="4109097" cy="41090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5908196" y="-2240741"/>
            <a:ext cx="4556571" cy="455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77505">
            <a:off x="16225582" y="1113796"/>
            <a:ext cx="1002675" cy="10026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14" id="14"/>
          <p:cNvSpPr/>
          <p:nvPr/>
        </p:nvSpPr>
        <p:spPr>
          <a:xfrm flipH="false" flipV="false" rot="0">
            <a:off x="9360816" y="6983770"/>
            <a:ext cx="694234" cy="595306"/>
          </a:xfrm>
          <a:custGeom>
            <a:avLst/>
            <a:gdLst/>
            <a:ahLst/>
            <a:cxnLst/>
            <a:rect r="r" b="b" t="t" l="l"/>
            <a:pathLst>
              <a:path h="595306" w="694234">
                <a:moveTo>
                  <a:pt x="0" y="0"/>
                </a:moveTo>
                <a:lnTo>
                  <a:pt x="694234" y="0"/>
                </a:lnTo>
                <a:lnTo>
                  <a:pt x="694234" y="595306"/>
                </a:lnTo>
                <a:lnTo>
                  <a:pt x="0" y="595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140556" y="6956163"/>
            <a:ext cx="566073" cy="622913"/>
          </a:xfrm>
          <a:custGeom>
            <a:avLst/>
            <a:gdLst/>
            <a:ahLst/>
            <a:cxnLst/>
            <a:rect r="r" b="b" t="t" l="l"/>
            <a:pathLst>
              <a:path h="622913" w="566073">
                <a:moveTo>
                  <a:pt x="0" y="0"/>
                </a:moveTo>
                <a:lnTo>
                  <a:pt x="566073" y="0"/>
                </a:lnTo>
                <a:lnTo>
                  <a:pt x="566073" y="622913"/>
                </a:lnTo>
                <a:lnTo>
                  <a:pt x="0" y="622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894260" y="6956163"/>
            <a:ext cx="551344" cy="654414"/>
          </a:xfrm>
          <a:custGeom>
            <a:avLst/>
            <a:gdLst/>
            <a:ahLst/>
            <a:cxnLst/>
            <a:rect r="r" b="b" t="t" l="l"/>
            <a:pathLst>
              <a:path h="654414" w="551344">
                <a:moveTo>
                  <a:pt x="0" y="0"/>
                </a:moveTo>
                <a:lnTo>
                  <a:pt x="551344" y="0"/>
                </a:lnTo>
                <a:lnTo>
                  <a:pt x="551344" y="654414"/>
                </a:lnTo>
                <a:lnTo>
                  <a:pt x="0" y="6544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337037" y="3352487"/>
            <a:ext cx="11255565" cy="4577120"/>
          </a:xfrm>
          <a:custGeom>
            <a:avLst/>
            <a:gdLst/>
            <a:ahLst/>
            <a:cxnLst/>
            <a:rect r="r" b="b" t="t" l="l"/>
            <a:pathLst>
              <a:path h="4577120" w="11255565">
                <a:moveTo>
                  <a:pt x="0" y="0"/>
                </a:moveTo>
                <a:lnTo>
                  <a:pt x="11255565" y="0"/>
                </a:lnTo>
                <a:lnTo>
                  <a:pt x="11255565" y="4577120"/>
                </a:lnTo>
                <a:lnTo>
                  <a:pt x="0" y="4577120"/>
                </a:lnTo>
                <a:lnTo>
                  <a:pt x="0" y="0"/>
                </a:lnTo>
                <a:close/>
              </a:path>
            </a:pathLst>
          </a:custGeom>
          <a:blipFill>
            <a:blip r:embed="rId8"/>
            <a:stretch>
              <a:fillRect l="-447" t="0" r="-447" b="0"/>
            </a:stretch>
          </a:blipFill>
        </p:spPr>
      </p:sp>
      <p:sp>
        <p:nvSpPr>
          <p:cNvPr name="TextBox 18" id="18"/>
          <p:cNvSpPr txBox="true"/>
          <p:nvPr/>
        </p:nvSpPr>
        <p:spPr>
          <a:xfrm rot="0">
            <a:off x="3466974" y="801699"/>
            <a:ext cx="11787684" cy="16363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User Case quản lý công thức </a:t>
            </a:r>
          </a:p>
        </p:txBody>
      </p:sp>
      <p:sp>
        <p:nvSpPr>
          <p:cNvPr name="TextBox 19" id="19"/>
          <p:cNvSpPr txBox="true"/>
          <p:nvPr/>
        </p:nvSpPr>
        <p:spPr>
          <a:xfrm rot="0">
            <a:off x="12382771" y="4421041"/>
            <a:ext cx="5574321" cy="2846578"/>
          </a:xfrm>
          <a:prstGeom prst="rect">
            <a:avLst/>
          </a:prstGeom>
        </p:spPr>
        <p:txBody>
          <a:bodyPr anchor="t" rtlCol="false" tIns="0" lIns="0" bIns="0" rIns="0">
            <a:spAutoFit/>
          </a:bodyPr>
          <a:lstStyle/>
          <a:p>
            <a:pPr algn="just">
              <a:lnSpc>
                <a:spcPts val="3751"/>
              </a:lnSpc>
            </a:pPr>
            <a:r>
              <a:rPr lang="en-US" sz="2679">
                <a:solidFill>
                  <a:srgbClr val="000000"/>
                </a:solidFill>
                <a:latin typeface="Canva Sans"/>
                <a:ea typeface="Canva Sans"/>
                <a:cs typeface="Canva Sans"/>
                <a:sym typeface="Canva Sans"/>
              </a:rPr>
              <a:t>Thực hiện đầy đủ các chức năng CRUD (Thêm, Sửa, Xóa, Hiể</a:t>
            </a:r>
            <a:r>
              <a:rPr lang="en-US" sz="2679">
                <a:solidFill>
                  <a:srgbClr val="000000"/>
                </a:solidFill>
                <a:latin typeface="Canva Sans"/>
                <a:ea typeface="Canva Sans"/>
                <a:cs typeface="Canva Sans"/>
                <a:sym typeface="Canva Sans"/>
              </a:rPr>
              <a:t>n thị) đối với công thức nấu ăn, đây là chức năng cốt lõi giúp người dùng quản lý và cập nhật dữ liệu trong hệ thống.</a:t>
            </a:r>
          </a:p>
        </p:txBody>
      </p:sp>
      <p:sp>
        <p:nvSpPr>
          <p:cNvPr name="TextBox 20" id="20"/>
          <p:cNvSpPr txBox="true"/>
          <p:nvPr/>
        </p:nvSpPr>
        <p:spPr>
          <a:xfrm rot="0">
            <a:off x="12048397" y="3775269"/>
            <a:ext cx="5691725" cy="431363"/>
          </a:xfrm>
          <a:prstGeom prst="rect">
            <a:avLst/>
          </a:prstGeom>
        </p:spPr>
        <p:txBody>
          <a:bodyPr anchor="t" rtlCol="false" tIns="0" lIns="0" bIns="0" rIns="0">
            <a:spAutoFit/>
          </a:bodyPr>
          <a:lstStyle/>
          <a:p>
            <a:pPr algn="ctr">
              <a:lnSpc>
                <a:spcPts val="3524"/>
              </a:lnSpc>
            </a:pPr>
            <a:r>
              <a:rPr lang="en-US" sz="2517" b="true">
                <a:solidFill>
                  <a:srgbClr val="000000"/>
                </a:solidFill>
                <a:latin typeface="Canva Sans Bold"/>
                <a:ea typeface="Canva Sans Bold"/>
                <a:cs typeface="Canva Sans Bold"/>
                <a:sym typeface="Canva Sans Bold"/>
              </a:rPr>
              <a:t>USE CASE QUẢN LÝ CÔNG THỨC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2636532" y="-1952323"/>
            <a:ext cx="8640962" cy="86409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5620056">
            <a:off x="15943365" y="8355288"/>
            <a:ext cx="4109097" cy="41090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5908196" y="-2240741"/>
            <a:ext cx="4556571" cy="455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77505">
            <a:off x="16225582" y="1113796"/>
            <a:ext cx="1002675" cy="10026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14" id="14"/>
          <p:cNvSpPr/>
          <p:nvPr/>
        </p:nvSpPr>
        <p:spPr>
          <a:xfrm flipH="false" flipV="false" rot="0">
            <a:off x="9360816" y="6983770"/>
            <a:ext cx="694234" cy="595306"/>
          </a:xfrm>
          <a:custGeom>
            <a:avLst/>
            <a:gdLst/>
            <a:ahLst/>
            <a:cxnLst/>
            <a:rect r="r" b="b" t="t" l="l"/>
            <a:pathLst>
              <a:path h="595306" w="694234">
                <a:moveTo>
                  <a:pt x="0" y="0"/>
                </a:moveTo>
                <a:lnTo>
                  <a:pt x="694234" y="0"/>
                </a:lnTo>
                <a:lnTo>
                  <a:pt x="694234" y="595306"/>
                </a:lnTo>
                <a:lnTo>
                  <a:pt x="0" y="595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140556" y="6956163"/>
            <a:ext cx="566073" cy="622913"/>
          </a:xfrm>
          <a:custGeom>
            <a:avLst/>
            <a:gdLst/>
            <a:ahLst/>
            <a:cxnLst/>
            <a:rect r="r" b="b" t="t" l="l"/>
            <a:pathLst>
              <a:path h="622913" w="566073">
                <a:moveTo>
                  <a:pt x="0" y="0"/>
                </a:moveTo>
                <a:lnTo>
                  <a:pt x="566073" y="0"/>
                </a:lnTo>
                <a:lnTo>
                  <a:pt x="566073" y="622913"/>
                </a:lnTo>
                <a:lnTo>
                  <a:pt x="0" y="622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894260" y="6956163"/>
            <a:ext cx="551344" cy="654414"/>
          </a:xfrm>
          <a:custGeom>
            <a:avLst/>
            <a:gdLst/>
            <a:ahLst/>
            <a:cxnLst/>
            <a:rect r="r" b="b" t="t" l="l"/>
            <a:pathLst>
              <a:path h="654414" w="551344">
                <a:moveTo>
                  <a:pt x="0" y="0"/>
                </a:moveTo>
                <a:lnTo>
                  <a:pt x="551344" y="0"/>
                </a:lnTo>
                <a:lnTo>
                  <a:pt x="551344" y="654414"/>
                </a:lnTo>
                <a:lnTo>
                  <a:pt x="0" y="6544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315586" y="3208327"/>
            <a:ext cx="11677929" cy="4806858"/>
          </a:xfrm>
          <a:custGeom>
            <a:avLst/>
            <a:gdLst/>
            <a:ahLst/>
            <a:cxnLst/>
            <a:rect r="r" b="b" t="t" l="l"/>
            <a:pathLst>
              <a:path h="4806858" w="11677929">
                <a:moveTo>
                  <a:pt x="0" y="0"/>
                </a:moveTo>
                <a:lnTo>
                  <a:pt x="11677929" y="0"/>
                </a:lnTo>
                <a:lnTo>
                  <a:pt x="11677929" y="4806858"/>
                </a:lnTo>
                <a:lnTo>
                  <a:pt x="0" y="4806858"/>
                </a:lnTo>
                <a:lnTo>
                  <a:pt x="0" y="0"/>
                </a:lnTo>
                <a:close/>
              </a:path>
            </a:pathLst>
          </a:custGeom>
          <a:blipFill>
            <a:blip r:embed="rId8"/>
            <a:stretch>
              <a:fillRect l="-6439" t="-14822" r="-12085" b="-11240"/>
            </a:stretch>
          </a:blipFill>
        </p:spPr>
      </p:sp>
      <p:sp>
        <p:nvSpPr>
          <p:cNvPr name="TextBox 18" id="18"/>
          <p:cNvSpPr txBox="true"/>
          <p:nvPr/>
        </p:nvSpPr>
        <p:spPr>
          <a:xfrm rot="0">
            <a:off x="2728960" y="801699"/>
            <a:ext cx="12830080" cy="16363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User Case xem danh sách công thức </a:t>
            </a:r>
          </a:p>
        </p:txBody>
      </p:sp>
      <p:sp>
        <p:nvSpPr>
          <p:cNvPr name="TextBox 19" id="19"/>
          <p:cNvSpPr txBox="true"/>
          <p:nvPr/>
        </p:nvSpPr>
        <p:spPr>
          <a:xfrm rot="0">
            <a:off x="12423593" y="4732498"/>
            <a:ext cx="5574321" cy="2846578"/>
          </a:xfrm>
          <a:prstGeom prst="rect">
            <a:avLst/>
          </a:prstGeom>
        </p:spPr>
        <p:txBody>
          <a:bodyPr anchor="t" rtlCol="false" tIns="0" lIns="0" bIns="0" rIns="0">
            <a:spAutoFit/>
          </a:bodyPr>
          <a:lstStyle/>
          <a:p>
            <a:pPr algn="just">
              <a:lnSpc>
                <a:spcPts val="3751"/>
              </a:lnSpc>
            </a:pPr>
            <a:r>
              <a:rPr lang="en-US" sz="2679">
                <a:solidFill>
                  <a:srgbClr val="000000"/>
                </a:solidFill>
                <a:latin typeface="Canva Sans"/>
                <a:ea typeface="Canva Sans"/>
                <a:cs typeface="Canva Sans"/>
                <a:sym typeface="Canva Sans"/>
              </a:rPr>
              <a:t>Hiể</a:t>
            </a:r>
            <a:r>
              <a:rPr lang="en-US" sz="2679">
                <a:solidFill>
                  <a:srgbClr val="000000"/>
                </a:solidFill>
                <a:latin typeface="Canva Sans"/>
                <a:ea typeface="Canva Sans"/>
                <a:cs typeface="Canva Sans"/>
                <a:sym typeface="Canva Sans"/>
              </a:rPr>
              <a:t>n thị toàn bộ các công thức nấu ăn hiện có trong hệ thống, đồng thời hỗ trợ người dùng tìm kiếm nhanh theo tên hoặc từ khóa để dễ dàng truy xuất thông tin mong muốn.</a:t>
            </a:r>
          </a:p>
        </p:txBody>
      </p:sp>
      <p:sp>
        <p:nvSpPr>
          <p:cNvPr name="TextBox 20" id="20"/>
          <p:cNvSpPr txBox="true"/>
          <p:nvPr/>
        </p:nvSpPr>
        <p:spPr>
          <a:xfrm rot="0">
            <a:off x="12306189" y="3596828"/>
            <a:ext cx="5691725" cy="869513"/>
          </a:xfrm>
          <a:prstGeom prst="rect">
            <a:avLst/>
          </a:prstGeom>
        </p:spPr>
        <p:txBody>
          <a:bodyPr anchor="t" rtlCol="false" tIns="0" lIns="0" bIns="0" rIns="0">
            <a:spAutoFit/>
          </a:bodyPr>
          <a:lstStyle/>
          <a:p>
            <a:pPr algn="ctr">
              <a:lnSpc>
                <a:spcPts val="3524"/>
              </a:lnSpc>
            </a:pPr>
            <a:r>
              <a:rPr lang="en-US" sz="2517" b="true">
                <a:solidFill>
                  <a:srgbClr val="000000"/>
                </a:solidFill>
                <a:latin typeface="Canva Sans Bold"/>
                <a:ea typeface="Canva Sans Bold"/>
                <a:cs typeface="Canva Sans Bold"/>
                <a:sym typeface="Canva Sans Bold"/>
              </a:rPr>
              <a:t>USE CASE XEM DANH SÁCH CÔNG THỨC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2636532" y="-1952323"/>
            <a:ext cx="8640962" cy="86409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5620056">
            <a:off x="15943365" y="8355288"/>
            <a:ext cx="4109097" cy="41090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5908196" y="-2240741"/>
            <a:ext cx="4556571" cy="455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1" id="11"/>
          <p:cNvGrpSpPr/>
          <p:nvPr/>
        </p:nvGrpSpPr>
        <p:grpSpPr>
          <a:xfrm rot="-77505">
            <a:off x="16225582" y="1113796"/>
            <a:ext cx="1002675" cy="100267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14" id="14"/>
          <p:cNvSpPr/>
          <p:nvPr/>
        </p:nvSpPr>
        <p:spPr>
          <a:xfrm flipH="false" flipV="false" rot="0">
            <a:off x="9339029" y="7265958"/>
            <a:ext cx="694234" cy="595306"/>
          </a:xfrm>
          <a:custGeom>
            <a:avLst/>
            <a:gdLst/>
            <a:ahLst/>
            <a:cxnLst/>
            <a:rect r="r" b="b" t="t" l="l"/>
            <a:pathLst>
              <a:path h="595306" w="694234">
                <a:moveTo>
                  <a:pt x="0" y="0"/>
                </a:moveTo>
                <a:lnTo>
                  <a:pt x="694234" y="0"/>
                </a:lnTo>
                <a:lnTo>
                  <a:pt x="694234" y="595306"/>
                </a:lnTo>
                <a:lnTo>
                  <a:pt x="0" y="595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118770" y="7238351"/>
            <a:ext cx="566073" cy="622913"/>
          </a:xfrm>
          <a:custGeom>
            <a:avLst/>
            <a:gdLst/>
            <a:ahLst/>
            <a:cxnLst/>
            <a:rect r="r" b="b" t="t" l="l"/>
            <a:pathLst>
              <a:path h="622913" w="566073">
                <a:moveTo>
                  <a:pt x="0" y="0"/>
                </a:moveTo>
                <a:lnTo>
                  <a:pt x="566072" y="0"/>
                </a:lnTo>
                <a:lnTo>
                  <a:pt x="566072" y="622913"/>
                </a:lnTo>
                <a:lnTo>
                  <a:pt x="0" y="622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872473" y="7238351"/>
            <a:ext cx="551344" cy="654414"/>
          </a:xfrm>
          <a:custGeom>
            <a:avLst/>
            <a:gdLst/>
            <a:ahLst/>
            <a:cxnLst/>
            <a:rect r="r" b="b" t="t" l="l"/>
            <a:pathLst>
              <a:path h="654414" w="551344">
                <a:moveTo>
                  <a:pt x="0" y="0"/>
                </a:moveTo>
                <a:lnTo>
                  <a:pt x="551345" y="0"/>
                </a:lnTo>
                <a:lnTo>
                  <a:pt x="551345" y="654415"/>
                </a:lnTo>
                <a:lnTo>
                  <a:pt x="0" y="6544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508274" y="3155824"/>
            <a:ext cx="10357617" cy="5407076"/>
          </a:xfrm>
          <a:custGeom>
            <a:avLst/>
            <a:gdLst/>
            <a:ahLst/>
            <a:cxnLst/>
            <a:rect r="r" b="b" t="t" l="l"/>
            <a:pathLst>
              <a:path h="5407076" w="10357617">
                <a:moveTo>
                  <a:pt x="0" y="0"/>
                </a:moveTo>
                <a:lnTo>
                  <a:pt x="10357618" y="0"/>
                </a:lnTo>
                <a:lnTo>
                  <a:pt x="10357618" y="5407076"/>
                </a:lnTo>
                <a:lnTo>
                  <a:pt x="0" y="5407076"/>
                </a:lnTo>
                <a:lnTo>
                  <a:pt x="0" y="0"/>
                </a:lnTo>
                <a:close/>
              </a:path>
            </a:pathLst>
          </a:custGeom>
          <a:blipFill>
            <a:blip r:embed="rId8"/>
            <a:stretch>
              <a:fillRect l="0" t="0" r="0" b="0"/>
            </a:stretch>
          </a:blipFill>
        </p:spPr>
      </p:sp>
      <p:sp>
        <p:nvSpPr>
          <p:cNvPr name="TextBox 18" id="18"/>
          <p:cNvSpPr txBox="true"/>
          <p:nvPr/>
        </p:nvSpPr>
        <p:spPr>
          <a:xfrm rot="0">
            <a:off x="5626819" y="801699"/>
            <a:ext cx="8812890" cy="1636395"/>
          </a:xfrm>
          <a:prstGeom prst="rect">
            <a:avLst/>
          </a:prstGeom>
        </p:spPr>
        <p:txBody>
          <a:bodyPr anchor="t" rtlCol="false" tIns="0" lIns="0" bIns="0" rIns="0">
            <a:spAutoFit/>
          </a:bodyPr>
          <a:lstStyle/>
          <a:p>
            <a:pPr algn="ctr">
              <a:lnSpc>
                <a:spcPts val="6159"/>
              </a:lnSpc>
            </a:pPr>
            <a:r>
              <a:rPr lang="en-US" b="true" sz="5599">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Biểu đồ lớp (Class Diagram)</a:t>
            </a:r>
          </a:p>
        </p:txBody>
      </p:sp>
      <p:sp>
        <p:nvSpPr>
          <p:cNvPr name="TextBox 19" id="19"/>
          <p:cNvSpPr txBox="true"/>
          <p:nvPr/>
        </p:nvSpPr>
        <p:spPr>
          <a:xfrm rot="0">
            <a:off x="11339981" y="3945937"/>
            <a:ext cx="6439745" cy="1417828"/>
          </a:xfrm>
          <a:prstGeom prst="rect">
            <a:avLst/>
          </a:prstGeom>
        </p:spPr>
        <p:txBody>
          <a:bodyPr anchor="t" rtlCol="false" tIns="0" lIns="0" bIns="0" rIns="0">
            <a:spAutoFit/>
          </a:bodyPr>
          <a:lstStyle/>
          <a:p>
            <a:pPr algn="just">
              <a:lnSpc>
                <a:spcPts val="3751"/>
              </a:lnSpc>
            </a:pPr>
            <a:r>
              <a:rPr lang="en-US" sz="2679">
                <a:solidFill>
                  <a:srgbClr val="000000"/>
                </a:solidFill>
                <a:latin typeface="Canva Sans"/>
                <a:ea typeface="Canva Sans"/>
                <a:cs typeface="Canva Sans"/>
                <a:sym typeface="Canva Sans"/>
              </a:rPr>
              <a:t>Quả</a:t>
            </a:r>
            <a:r>
              <a:rPr lang="en-US" sz="2679">
                <a:solidFill>
                  <a:srgbClr val="000000"/>
                </a:solidFill>
                <a:latin typeface="Canva Sans"/>
                <a:ea typeface="Canva Sans"/>
                <a:cs typeface="Canva Sans"/>
                <a:sym typeface="Canva Sans"/>
              </a:rPr>
              <a:t>n lý thông tin đăng nhập của người dùng, hỗ trợ các chức năng Đăng ký, Đăng nhập và quản lý phiên làm việc.</a:t>
            </a:r>
          </a:p>
        </p:txBody>
      </p:sp>
      <p:sp>
        <p:nvSpPr>
          <p:cNvPr name="TextBox 20" id="20"/>
          <p:cNvSpPr txBox="true"/>
          <p:nvPr/>
        </p:nvSpPr>
        <p:spPr>
          <a:xfrm rot="0">
            <a:off x="11339981" y="3383785"/>
            <a:ext cx="3308102" cy="439644"/>
          </a:xfrm>
          <a:prstGeom prst="rect">
            <a:avLst/>
          </a:prstGeom>
        </p:spPr>
        <p:txBody>
          <a:bodyPr anchor="t" rtlCol="false" tIns="0" lIns="0" bIns="0" rIns="0">
            <a:spAutoFit/>
          </a:bodyPr>
          <a:lstStyle/>
          <a:p>
            <a:pPr algn="just">
              <a:lnSpc>
                <a:spcPts val="3524"/>
              </a:lnSpc>
            </a:pPr>
            <a:r>
              <a:rPr lang="en-US" sz="2517" b="true">
                <a:solidFill>
                  <a:srgbClr val="000000"/>
                </a:solidFill>
                <a:latin typeface="Canva Sans Bold"/>
                <a:ea typeface="Canva Sans Bold"/>
                <a:cs typeface="Canva Sans Bold"/>
                <a:sym typeface="Canva Sans Bold"/>
              </a:rPr>
              <a:t>LỚP TÀI KHOẢN</a:t>
            </a:r>
          </a:p>
        </p:txBody>
      </p:sp>
      <p:sp>
        <p:nvSpPr>
          <p:cNvPr name="TextBox 21" id="21"/>
          <p:cNvSpPr txBox="true"/>
          <p:nvPr/>
        </p:nvSpPr>
        <p:spPr>
          <a:xfrm rot="0">
            <a:off x="11339981" y="6383711"/>
            <a:ext cx="6439745" cy="1894078"/>
          </a:xfrm>
          <a:prstGeom prst="rect">
            <a:avLst/>
          </a:prstGeom>
        </p:spPr>
        <p:txBody>
          <a:bodyPr anchor="t" rtlCol="false" tIns="0" lIns="0" bIns="0" rIns="0">
            <a:spAutoFit/>
          </a:bodyPr>
          <a:lstStyle/>
          <a:p>
            <a:pPr algn="just">
              <a:lnSpc>
                <a:spcPts val="3751"/>
              </a:lnSpc>
            </a:pPr>
            <a:r>
              <a:rPr lang="en-US" sz="2679">
                <a:solidFill>
                  <a:srgbClr val="000000"/>
                </a:solidFill>
                <a:latin typeface="Canva Sans"/>
                <a:ea typeface="Canva Sans"/>
                <a:cs typeface="Canva Sans"/>
                <a:sym typeface="Canva Sans"/>
              </a:rPr>
              <a:t>Quả</a:t>
            </a:r>
            <a:r>
              <a:rPr lang="en-US" sz="2679">
                <a:solidFill>
                  <a:srgbClr val="000000"/>
                </a:solidFill>
                <a:latin typeface="Canva Sans"/>
                <a:ea typeface="Canva Sans"/>
                <a:cs typeface="Canva Sans"/>
                <a:sym typeface="Canva Sans"/>
              </a:rPr>
              <a:t>n lý thông tin công thức nấu ăn, bao gồm các chức năng CRUD (Thêm, Sửa, Xóa, Hiển thị), tìm kiếm công thức và đánh dấu yêu thích.</a:t>
            </a:r>
          </a:p>
        </p:txBody>
      </p:sp>
      <p:sp>
        <p:nvSpPr>
          <p:cNvPr name="TextBox 22" id="22"/>
          <p:cNvSpPr txBox="true"/>
          <p:nvPr/>
        </p:nvSpPr>
        <p:spPr>
          <a:xfrm rot="0">
            <a:off x="11339981" y="5821559"/>
            <a:ext cx="3308102" cy="439644"/>
          </a:xfrm>
          <a:prstGeom prst="rect">
            <a:avLst/>
          </a:prstGeom>
        </p:spPr>
        <p:txBody>
          <a:bodyPr anchor="t" rtlCol="false" tIns="0" lIns="0" bIns="0" rIns="0">
            <a:spAutoFit/>
          </a:bodyPr>
          <a:lstStyle/>
          <a:p>
            <a:pPr algn="just">
              <a:lnSpc>
                <a:spcPts val="3524"/>
              </a:lnSpc>
            </a:pPr>
            <a:r>
              <a:rPr lang="en-US" sz="2517" b="true">
                <a:solidFill>
                  <a:srgbClr val="000000"/>
                </a:solidFill>
                <a:latin typeface="Canva Sans Bold"/>
                <a:ea typeface="Canva Sans Bold"/>
                <a:cs typeface="Canva Sans Bold"/>
                <a:sym typeface="Canva Sans Bold"/>
              </a:rPr>
              <a:t>LỚP CÔNG THỨC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12847706" y="-829935"/>
            <a:ext cx="12504562" cy="125045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3582628">
            <a:off x="-2583902" y="-2489161"/>
            <a:ext cx="4556571" cy="45565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028700" y="1457960"/>
            <a:ext cx="4323406" cy="8386103"/>
          </a:xfrm>
          <a:custGeom>
            <a:avLst/>
            <a:gdLst/>
            <a:ahLst/>
            <a:cxnLst/>
            <a:rect r="r" b="b" t="t" l="l"/>
            <a:pathLst>
              <a:path h="8386103" w="4323406">
                <a:moveTo>
                  <a:pt x="0" y="0"/>
                </a:moveTo>
                <a:lnTo>
                  <a:pt x="4323406" y="0"/>
                </a:lnTo>
                <a:lnTo>
                  <a:pt x="4323406" y="8386103"/>
                </a:lnTo>
                <a:lnTo>
                  <a:pt x="0" y="8386103"/>
                </a:lnTo>
                <a:lnTo>
                  <a:pt x="0" y="0"/>
                </a:lnTo>
                <a:close/>
              </a:path>
            </a:pathLst>
          </a:custGeom>
          <a:blipFill>
            <a:blip r:embed="rId2"/>
            <a:stretch>
              <a:fillRect l="0" t="-3153" r="0" b="-3153"/>
            </a:stretch>
          </a:blipFill>
        </p:spPr>
      </p:sp>
      <p:sp>
        <p:nvSpPr>
          <p:cNvPr name="Freeform 9" id="9"/>
          <p:cNvSpPr/>
          <p:nvPr/>
        </p:nvSpPr>
        <p:spPr>
          <a:xfrm flipH="false" flipV="false" rot="0">
            <a:off x="7339459" y="1457960"/>
            <a:ext cx="4323406" cy="8386103"/>
          </a:xfrm>
          <a:custGeom>
            <a:avLst/>
            <a:gdLst/>
            <a:ahLst/>
            <a:cxnLst/>
            <a:rect r="r" b="b" t="t" l="l"/>
            <a:pathLst>
              <a:path h="8386103" w="4323406">
                <a:moveTo>
                  <a:pt x="0" y="0"/>
                </a:moveTo>
                <a:lnTo>
                  <a:pt x="4323406" y="0"/>
                </a:lnTo>
                <a:lnTo>
                  <a:pt x="4323406" y="8386103"/>
                </a:lnTo>
                <a:lnTo>
                  <a:pt x="0" y="8386103"/>
                </a:lnTo>
                <a:lnTo>
                  <a:pt x="0" y="0"/>
                </a:lnTo>
                <a:close/>
              </a:path>
            </a:pathLst>
          </a:custGeom>
          <a:blipFill>
            <a:blip r:embed="rId3"/>
            <a:stretch>
              <a:fillRect l="0" t="-5112" r="0" b="-5112"/>
            </a:stretch>
          </a:blipFill>
        </p:spPr>
      </p:sp>
      <p:sp>
        <p:nvSpPr>
          <p:cNvPr name="TextBox 10" id="10"/>
          <p:cNvSpPr txBox="true"/>
          <p:nvPr/>
        </p:nvSpPr>
        <p:spPr>
          <a:xfrm rot="0">
            <a:off x="5095572" y="608965"/>
            <a:ext cx="8096857" cy="848995"/>
          </a:xfrm>
          <a:prstGeom prst="rect">
            <a:avLst/>
          </a:prstGeom>
        </p:spPr>
        <p:txBody>
          <a:bodyPr anchor="t" rtlCol="false" tIns="0" lIns="0" bIns="0" rIns="0">
            <a:spAutoFit/>
          </a:bodyPr>
          <a:lstStyle/>
          <a:p>
            <a:pPr algn="l">
              <a:lnSpc>
                <a:spcPts val="6159"/>
              </a:lnSpc>
            </a:pPr>
            <a:r>
              <a:rPr lang="en-US" sz="5599" b="true">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Thiết kế và Demo</a:t>
            </a:r>
          </a:p>
        </p:txBody>
      </p:sp>
      <p:sp>
        <p:nvSpPr>
          <p:cNvPr name="Freeform 11" id="11"/>
          <p:cNvSpPr/>
          <p:nvPr/>
        </p:nvSpPr>
        <p:spPr>
          <a:xfrm flipH="false" flipV="false" rot="0">
            <a:off x="12935894" y="1457960"/>
            <a:ext cx="4323406" cy="8535160"/>
          </a:xfrm>
          <a:custGeom>
            <a:avLst/>
            <a:gdLst/>
            <a:ahLst/>
            <a:cxnLst/>
            <a:rect r="r" b="b" t="t" l="l"/>
            <a:pathLst>
              <a:path h="8535160" w="4323406">
                <a:moveTo>
                  <a:pt x="0" y="0"/>
                </a:moveTo>
                <a:lnTo>
                  <a:pt x="4323406" y="0"/>
                </a:lnTo>
                <a:lnTo>
                  <a:pt x="4323406" y="8535160"/>
                </a:lnTo>
                <a:lnTo>
                  <a:pt x="0" y="8535160"/>
                </a:lnTo>
                <a:lnTo>
                  <a:pt x="0" y="0"/>
                </a:lnTo>
                <a:close/>
              </a:path>
            </a:pathLst>
          </a:custGeom>
          <a:blipFill>
            <a:blip r:embed="rId4"/>
            <a:stretch>
              <a:fillRect l="0" t="0" r="-108"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5620056">
            <a:off x="12924667" y="-650361"/>
            <a:ext cx="12504562" cy="1250456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3582628">
            <a:off x="-2583902" y="-2489161"/>
            <a:ext cx="4556571" cy="45565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3271924" y="1678174"/>
            <a:ext cx="4064336" cy="8261618"/>
          </a:xfrm>
          <a:custGeom>
            <a:avLst/>
            <a:gdLst/>
            <a:ahLst/>
            <a:cxnLst/>
            <a:rect r="r" b="b" t="t" l="l"/>
            <a:pathLst>
              <a:path h="8261618" w="4064336">
                <a:moveTo>
                  <a:pt x="0" y="0"/>
                </a:moveTo>
                <a:lnTo>
                  <a:pt x="4064336" y="0"/>
                </a:lnTo>
                <a:lnTo>
                  <a:pt x="4064336" y="8261618"/>
                </a:lnTo>
                <a:lnTo>
                  <a:pt x="0" y="8261618"/>
                </a:lnTo>
                <a:lnTo>
                  <a:pt x="0" y="0"/>
                </a:lnTo>
                <a:close/>
              </a:path>
            </a:pathLst>
          </a:custGeom>
          <a:blipFill>
            <a:blip r:embed="rId2"/>
            <a:stretch>
              <a:fillRect l="0" t="0" r="0" b="0"/>
            </a:stretch>
          </a:blipFill>
        </p:spPr>
      </p:sp>
      <p:sp>
        <p:nvSpPr>
          <p:cNvPr name="Freeform 9" id="9"/>
          <p:cNvSpPr/>
          <p:nvPr/>
        </p:nvSpPr>
        <p:spPr>
          <a:xfrm flipH="false" flipV="false" rot="0">
            <a:off x="1414156" y="1657854"/>
            <a:ext cx="4803751" cy="8281938"/>
          </a:xfrm>
          <a:custGeom>
            <a:avLst/>
            <a:gdLst/>
            <a:ahLst/>
            <a:cxnLst/>
            <a:rect r="r" b="b" t="t" l="l"/>
            <a:pathLst>
              <a:path h="8281938" w="4803751">
                <a:moveTo>
                  <a:pt x="0" y="0"/>
                </a:moveTo>
                <a:lnTo>
                  <a:pt x="4803751" y="0"/>
                </a:lnTo>
                <a:lnTo>
                  <a:pt x="4803751" y="8281938"/>
                </a:lnTo>
                <a:lnTo>
                  <a:pt x="0" y="8281938"/>
                </a:lnTo>
                <a:lnTo>
                  <a:pt x="0" y="0"/>
                </a:lnTo>
                <a:close/>
              </a:path>
            </a:pathLst>
          </a:custGeom>
          <a:blipFill>
            <a:blip r:embed="rId3"/>
            <a:stretch>
              <a:fillRect l="0" t="0" r="0" b="0"/>
            </a:stretch>
          </a:blipFill>
        </p:spPr>
      </p:sp>
      <p:sp>
        <p:nvSpPr>
          <p:cNvPr name="Freeform 10" id="10"/>
          <p:cNvSpPr/>
          <p:nvPr/>
        </p:nvSpPr>
        <p:spPr>
          <a:xfrm flipH="false" flipV="false" rot="0">
            <a:off x="7773822" y="1678174"/>
            <a:ext cx="3942188" cy="8261618"/>
          </a:xfrm>
          <a:custGeom>
            <a:avLst/>
            <a:gdLst/>
            <a:ahLst/>
            <a:cxnLst/>
            <a:rect r="r" b="b" t="t" l="l"/>
            <a:pathLst>
              <a:path h="8261618" w="3942188">
                <a:moveTo>
                  <a:pt x="0" y="0"/>
                </a:moveTo>
                <a:lnTo>
                  <a:pt x="3942187" y="0"/>
                </a:lnTo>
                <a:lnTo>
                  <a:pt x="3942187" y="8261618"/>
                </a:lnTo>
                <a:lnTo>
                  <a:pt x="0" y="8261618"/>
                </a:lnTo>
                <a:lnTo>
                  <a:pt x="0" y="0"/>
                </a:lnTo>
                <a:close/>
              </a:path>
            </a:pathLst>
          </a:custGeom>
          <a:blipFill>
            <a:blip r:embed="rId4"/>
            <a:stretch>
              <a:fillRect l="0" t="0" r="0" b="0"/>
            </a:stretch>
          </a:blipFill>
        </p:spPr>
      </p:sp>
      <p:sp>
        <p:nvSpPr>
          <p:cNvPr name="TextBox 11" id="11"/>
          <p:cNvSpPr txBox="true"/>
          <p:nvPr/>
        </p:nvSpPr>
        <p:spPr>
          <a:xfrm rot="0">
            <a:off x="5098107" y="619125"/>
            <a:ext cx="8096857" cy="828675"/>
          </a:xfrm>
          <a:prstGeom prst="rect">
            <a:avLst/>
          </a:prstGeom>
        </p:spPr>
        <p:txBody>
          <a:bodyPr anchor="t" rtlCol="false" tIns="0" lIns="0" bIns="0" rIns="0">
            <a:spAutoFit/>
          </a:bodyPr>
          <a:lstStyle/>
          <a:p>
            <a:pPr algn="l">
              <a:lnSpc>
                <a:spcPts val="6049"/>
              </a:lnSpc>
            </a:pPr>
            <a:r>
              <a:rPr lang="en-US" sz="5499" b="true">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Thiết kế và Demo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3582628">
            <a:off x="16414111" y="7838501"/>
            <a:ext cx="4556571" cy="455657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77505">
            <a:off x="16981416" y="8149376"/>
            <a:ext cx="555768" cy="55576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1719078">
            <a:off x="764191" y="-522712"/>
            <a:ext cx="2407479" cy="240747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0" id="1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TextBox 11" id="11"/>
          <p:cNvSpPr txBox="true"/>
          <p:nvPr/>
        </p:nvSpPr>
        <p:spPr>
          <a:xfrm rot="0">
            <a:off x="10746618" y="690553"/>
            <a:ext cx="4136765" cy="848995"/>
          </a:xfrm>
          <a:prstGeom prst="rect">
            <a:avLst/>
          </a:prstGeom>
        </p:spPr>
        <p:txBody>
          <a:bodyPr anchor="t" rtlCol="false" tIns="0" lIns="0" bIns="0" rIns="0">
            <a:spAutoFit/>
          </a:bodyPr>
          <a:lstStyle/>
          <a:p>
            <a:pPr algn="l">
              <a:lnSpc>
                <a:spcPts val="6159"/>
              </a:lnSpc>
            </a:pPr>
            <a:r>
              <a:rPr lang="en-US" sz="5599" b="true">
                <a:gradFill>
                  <a:gsLst>
                    <a:gs pos="0">
                      <a:srgbClr val="FF3131">
                        <a:alpha val="100000"/>
                      </a:srgbClr>
                    </a:gs>
                    <a:gs pos="100000">
                      <a:srgbClr val="FF914D">
                        <a:alpha val="100000"/>
                      </a:srgbClr>
                    </a:gs>
                  </a:gsLst>
                  <a:lin ang="0"/>
                </a:gradFill>
                <a:latin typeface="Helios Extended Bold"/>
                <a:ea typeface="Helios Extended Bold"/>
                <a:cs typeface="Helios Extended Bold"/>
                <a:sym typeface="Helios Extended Bold"/>
              </a:rPr>
              <a:t>Kết Luận</a:t>
            </a:r>
          </a:p>
        </p:txBody>
      </p:sp>
      <p:sp>
        <p:nvSpPr>
          <p:cNvPr name="TextBox 12" id="12"/>
          <p:cNvSpPr txBox="true"/>
          <p:nvPr/>
        </p:nvSpPr>
        <p:spPr>
          <a:xfrm rot="0">
            <a:off x="8258006" y="2963901"/>
            <a:ext cx="9113989" cy="1967520"/>
          </a:xfrm>
          <a:prstGeom prst="rect">
            <a:avLst/>
          </a:prstGeom>
        </p:spPr>
        <p:txBody>
          <a:bodyPr anchor="t" rtlCol="false" tIns="0" lIns="0" bIns="0" rIns="0">
            <a:spAutoFit/>
          </a:bodyPr>
          <a:lstStyle/>
          <a:p>
            <a:pPr algn="just">
              <a:lnSpc>
                <a:spcPts val="3903"/>
              </a:lnSpc>
            </a:pPr>
            <a:r>
              <a:rPr lang="en-US" sz="2788">
                <a:solidFill>
                  <a:srgbClr val="000000"/>
                </a:solidFill>
                <a:latin typeface="Canva Sans"/>
                <a:ea typeface="Canva Sans"/>
                <a:cs typeface="Canva Sans"/>
                <a:sym typeface="Canva Sans"/>
              </a:rPr>
              <a:t>Ứ</a:t>
            </a:r>
            <a:r>
              <a:rPr lang="en-US" sz="2788">
                <a:solidFill>
                  <a:srgbClr val="000000"/>
                </a:solidFill>
                <a:latin typeface="Canva Sans"/>
                <a:ea typeface="Canva Sans"/>
                <a:cs typeface="Canva Sans"/>
                <a:sym typeface="Canva Sans"/>
              </a:rPr>
              <a:t>ng dụng đã hoàn thành đầy đủ các chức năng cốt lõi như đăng ký/đăng nhập, CRUD công thức, tìm kiếm và đánh dấu yêu thích, sử dụng SQLite trên Android Studio.</a:t>
            </a:r>
          </a:p>
        </p:txBody>
      </p:sp>
      <p:sp>
        <p:nvSpPr>
          <p:cNvPr name="TextBox 13" id="13"/>
          <p:cNvSpPr txBox="true"/>
          <p:nvPr/>
        </p:nvSpPr>
        <p:spPr>
          <a:xfrm rot="0">
            <a:off x="8258006" y="2353172"/>
            <a:ext cx="3529069" cy="465193"/>
          </a:xfrm>
          <a:prstGeom prst="rect">
            <a:avLst/>
          </a:prstGeom>
        </p:spPr>
        <p:txBody>
          <a:bodyPr anchor="t" rtlCol="false" tIns="0" lIns="0" bIns="0" rIns="0">
            <a:spAutoFit/>
          </a:bodyPr>
          <a:lstStyle/>
          <a:p>
            <a:pPr algn="just">
              <a:lnSpc>
                <a:spcPts val="3759"/>
              </a:lnSpc>
            </a:pPr>
            <a:r>
              <a:rPr lang="en-US" sz="2685" b="true">
                <a:solidFill>
                  <a:srgbClr val="000000"/>
                </a:solidFill>
                <a:latin typeface="Canva Sans Bold"/>
                <a:ea typeface="Canva Sans Bold"/>
                <a:cs typeface="Canva Sans Bold"/>
                <a:sym typeface="Canva Sans Bold"/>
              </a:rPr>
              <a:t>KẾT QUẢ ĐẠT ĐƯỢC</a:t>
            </a:r>
          </a:p>
        </p:txBody>
      </p:sp>
      <p:sp>
        <p:nvSpPr>
          <p:cNvPr name="TextBox 14" id="14"/>
          <p:cNvSpPr txBox="true"/>
          <p:nvPr/>
        </p:nvSpPr>
        <p:spPr>
          <a:xfrm rot="0">
            <a:off x="8258006" y="5995342"/>
            <a:ext cx="9113989" cy="2462820"/>
          </a:xfrm>
          <a:prstGeom prst="rect">
            <a:avLst/>
          </a:prstGeom>
        </p:spPr>
        <p:txBody>
          <a:bodyPr anchor="t" rtlCol="false" tIns="0" lIns="0" bIns="0" rIns="0">
            <a:spAutoFit/>
          </a:bodyPr>
          <a:lstStyle/>
          <a:p>
            <a:pPr algn="just">
              <a:lnSpc>
                <a:spcPts val="3903"/>
              </a:lnSpc>
            </a:pPr>
            <a:r>
              <a:rPr lang="en-US" sz="2788">
                <a:solidFill>
                  <a:srgbClr val="000000"/>
                </a:solidFill>
                <a:latin typeface="Canva Sans"/>
                <a:ea typeface="Canva Sans"/>
                <a:cs typeface="Canva Sans"/>
                <a:sym typeface="Canva Sans"/>
              </a:rPr>
              <a:t>Tro</a:t>
            </a:r>
            <a:r>
              <a:rPr lang="en-US" sz="2788">
                <a:solidFill>
                  <a:srgbClr val="000000"/>
                </a:solidFill>
                <a:latin typeface="Canva Sans"/>
                <a:ea typeface="Canva Sans"/>
                <a:cs typeface="Canva Sans"/>
                <a:sym typeface="Canva Sans"/>
              </a:rPr>
              <a:t>ng tương lai có thể mở rộng thêm Firebase để đồng bộ dữ liệu online, phân loại món ăn theo danh mục (món chính, món chay, tráng miệng), bổ sung thống kê món được yêu thích và tính năng chia sẻ công thức cho người dùng khác.</a:t>
            </a:r>
          </a:p>
        </p:txBody>
      </p:sp>
      <p:sp>
        <p:nvSpPr>
          <p:cNvPr name="TextBox 15" id="15"/>
          <p:cNvSpPr txBox="true"/>
          <p:nvPr/>
        </p:nvSpPr>
        <p:spPr>
          <a:xfrm rot="0">
            <a:off x="8258006" y="5384613"/>
            <a:ext cx="3529069" cy="465193"/>
          </a:xfrm>
          <a:prstGeom prst="rect">
            <a:avLst/>
          </a:prstGeom>
        </p:spPr>
        <p:txBody>
          <a:bodyPr anchor="t" rtlCol="false" tIns="0" lIns="0" bIns="0" rIns="0">
            <a:spAutoFit/>
          </a:bodyPr>
          <a:lstStyle/>
          <a:p>
            <a:pPr algn="just">
              <a:lnSpc>
                <a:spcPts val="3759"/>
              </a:lnSpc>
            </a:pPr>
            <a:r>
              <a:rPr lang="en-US" sz="2685" b="true">
                <a:solidFill>
                  <a:srgbClr val="000000"/>
                </a:solidFill>
                <a:latin typeface="Canva Sans Bold"/>
                <a:ea typeface="Canva Sans Bold"/>
                <a:cs typeface="Canva Sans Bold"/>
                <a:sym typeface="Canva Sans Bold"/>
              </a:rPr>
              <a:t>HƯỚNG PHÁT TRIỀN</a:t>
            </a:r>
          </a:p>
        </p:txBody>
      </p:sp>
      <p:pic>
        <p:nvPicPr>
          <p:cNvPr name="Picture 16" id="16"/>
          <p:cNvPicPr>
            <a:picLocks noChangeAspect="true"/>
          </p:cNvPicPr>
          <p:nvPr/>
        </p:nvPicPr>
        <p:blipFill>
          <a:blip r:embed="rId2"/>
          <a:stretch>
            <a:fillRect/>
          </a:stretch>
        </p:blipFill>
        <p:spPr>
          <a:xfrm rot="0">
            <a:off x="107119" y="1351250"/>
            <a:ext cx="8140745" cy="75845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p:cSld>
    <p:bg>
      <p:bgPr>
        <a:solidFill>
          <a:srgbClr val="FFFAF0"/>
        </a:solidFill>
      </p:bgPr>
    </p:bg>
    <p:spTree>
      <p:nvGrpSpPr>
        <p:cNvPr id="1" name=""/>
        <p:cNvGrpSpPr/>
        <p:nvPr/>
      </p:nvGrpSpPr>
      <p:grpSpPr>
        <a:xfrm>
          <a:off x="0" y="0"/>
          <a:ext cx="0" cy="0"/>
          <a:chOff x="0" y="0"/>
          <a:chExt cx="0" cy="0"/>
        </a:xfrm>
      </p:grpSpPr>
      <p:grpSp>
        <p:nvGrpSpPr>
          <p:cNvPr name="Group 2" id="2"/>
          <p:cNvGrpSpPr/>
          <p:nvPr/>
        </p:nvGrpSpPr>
        <p:grpSpPr>
          <a:xfrm rot="-1610640">
            <a:off x="6154742" y="2056414"/>
            <a:ext cx="5978517" cy="597851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
        <p:nvSpPr>
          <p:cNvPr name="TextBox 5" id="5"/>
          <p:cNvSpPr txBox="true"/>
          <p:nvPr/>
        </p:nvSpPr>
        <p:spPr>
          <a:xfrm rot="0">
            <a:off x="4326749" y="4320690"/>
            <a:ext cx="9634501" cy="1478540"/>
          </a:xfrm>
          <a:prstGeom prst="rect">
            <a:avLst/>
          </a:prstGeom>
        </p:spPr>
        <p:txBody>
          <a:bodyPr anchor="t" rtlCol="false" tIns="0" lIns="0" bIns="0" rIns="0">
            <a:spAutoFit/>
          </a:bodyPr>
          <a:lstStyle/>
          <a:p>
            <a:pPr algn="ctr">
              <a:lnSpc>
                <a:spcPts val="10912"/>
              </a:lnSpc>
            </a:pPr>
            <a:r>
              <a:rPr lang="en-US" sz="9920" b="true">
                <a:solidFill>
                  <a:srgbClr val="000000"/>
                </a:solidFill>
                <a:latin typeface="Helios Extended Bold"/>
                <a:ea typeface="Helios Extended Bold"/>
                <a:cs typeface="Helios Extended Bold"/>
                <a:sym typeface="Helios Extended Bold"/>
              </a:rPr>
              <a:t>Thank You</a:t>
            </a:r>
          </a:p>
        </p:txBody>
      </p:sp>
      <p:grpSp>
        <p:nvGrpSpPr>
          <p:cNvPr name="Group 6" id="6"/>
          <p:cNvGrpSpPr/>
          <p:nvPr/>
        </p:nvGrpSpPr>
        <p:grpSpPr>
          <a:xfrm rot="-1013461">
            <a:off x="-2402491" y="6679611"/>
            <a:ext cx="7214779" cy="721477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8" id="8"/>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1610640">
            <a:off x="-1215797" y="-791859"/>
            <a:ext cx="2431594" cy="243159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1" id="11"/>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2" id="12"/>
          <p:cNvGrpSpPr/>
          <p:nvPr/>
        </p:nvGrpSpPr>
        <p:grpSpPr>
          <a:xfrm rot="-1610640">
            <a:off x="17919145" y="7445048"/>
            <a:ext cx="737710" cy="73771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5" id="15"/>
          <p:cNvGrpSpPr/>
          <p:nvPr/>
        </p:nvGrpSpPr>
        <p:grpSpPr>
          <a:xfrm rot="-1013461">
            <a:off x="15610206" y="-1962910"/>
            <a:ext cx="4556571" cy="45565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FFF7AD">
                      <a:alpha val="100000"/>
                    </a:srgbClr>
                  </a:gs>
                  <a:gs pos="100000">
                    <a:srgbClr val="FFA9F9">
                      <a:alpha val="100000"/>
                    </a:srgbClr>
                  </a:gs>
                </a:gsLst>
                <a:lin ang="2700000"/>
              </a:gradFill>
              <a:prstDash val="solid"/>
              <a:miter/>
            </a:ln>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1610640">
            <a:off x="1264936" y="6345989"/>
            <a:ext cx="737710" cy="73771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7AD">
                    <a:alpha val="100000"/>
                  </a:srgbClr>
                </a:gs>
                <a:gs pos="100000">
                  <a:srgbClr val="FFA9F9">
                    <a:alpha val="100000"/>
                  </a:srgbClr>
                </a:gs>
              </a:gsLst>
              <a:lin ang="27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DAHNiqvkcSU</dc:identifier>
  <dcterms:modified xsi:type="dcterms:W3CDTF">2011-08-01T06:04:30Z</dcterms:modified>
  <cp:revision>1</cp:revision>
  <dc:title>Yellow and Pink Gradient Simple Abstract Mobile Apps Presentation</dc:title>
</cp:coreProperties>
</file>